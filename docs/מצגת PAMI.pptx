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8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213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21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331" y="960120"/>
            <a:ext cx="1447137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74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PAMI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7066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4B9A"/>
                </a:solidFill>
              </a:rPr>
              <a:t>Your AI Project Manager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14400" y="33375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2DA8"/>
                </a:solidFill>
              </a:rPr>
              <a:t>Cloud Computing Workshop with AWS | Semester B Final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0690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2440"/>
                </a:solidFill>
              </a:rPr>
              <a:t>Osher Atias | Roy Kalfon | Or Keren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446227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47E"/>
                </a:solidFill>
              </a:rPr>
              <a:t>Mentor: Yogev Shani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67328" y="5047488"/>
            <a:ext cx="4663440" cy="347472"/>
          </a:xfrm>
          <a:prstGeom prst="roundRect">
            <a:avLst>
              <a:gd name="adj" fmla="val 21053"/>
            </a:avLst>
          </a:prstGeom>
          <a:solidFill>
            <a:srgbClr val="F3EAFE"/>
          </a:solidFill>
          <a:ln w="12700">
            <a:solidFill>
              <a:srgbClr val="5A2D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3877056" y="5129784"/>
            <a:ext cx="4443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2DA8"/>
                </a:solidFill>
              </a:rPr>
              <a:t>AI-first project understanding for software teams</a:t>
            </a:r>
            <a:endParaRPr lang="en-US" sz="95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9C86A81-D550-C351-110B-2370D7925715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1AFA0C4-DFE4-F4FF-B244-A830188A2F89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D871F47E-60C5-1A2A-DEFD-123B8C753076}"/>
              </a:ext>
            </a:extLst>
          </p:cNvPr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dirty="0">
                <a:solidFill>
                  <a:srgbClr val="8B749B"/>
                </a:solidFill>
                <a:latin typeface="Aptos"/>
              </a:rPr>
              <a:t>0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0EEA45FC-2965-F1D0-A227-1ABB8437D4DB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dirty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PROBLEM + AUDIENCE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data is everywhere. Understanding is still manual.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94944" y="14447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C2440"/>
                </a:solidFill>
              </a:rPr>
              <a:t>Modern delivery teams use many tools, but project state remains scattered across tasks, messages, documents and informal decisions.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4944" y="2084832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923544" y="2313432"/>
            <a:ext cx="402336" cy="402336"/>
          </a:xfrm>
          <a:prstGeom prst="ellipse">
            <a:avLst/>
          </a:prstGeom>
          <a:solidFill>
            <a:srgbClr val="E94B9A"/>
          </a:solidFill>
          <a:ln w="12700">
            <a:solidFill>
              <a:srgbClr val="E94B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923544" y="247720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63040" y="241410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DA8"/>
                </a:solidFill>
              </a:rPr>
              <a:t>Fragmented ecosystem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87552" y="2807292"/>
            <a:ext cx="293522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2440"/>
                </a:solidFill>
              </a:rPr>
              <a:t>Jira, Slack, documents and meetings each hold part of the truth. Managers still need to connect the dots manually.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43984" y="2084832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1"/>
          <p:cNvSpPr/>
          <p:nvPr/>
        </p:nvSpPr>
        <p:spPr>
          <a:xfrm>
            <a:off x="4672584" y="2313432"/>
            <a:ext cx="402336" cy="402336"/>
          </a:xfrm>
          <a:prstGeom prst="ellipse">
            <a:avLst/>
          </a:prstGeom>
          <a:solidFill>
            <a:srgbClr val="5A2DA8"/>
          </a:solidFill>
          <a:ln w="12700">
            <a:solidFill>
              <a:srgbClr val="5A2D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4672584" y="247720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12080" y="241410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DA8"/>
                </a:solidFill>
              </a:rPr>
              <a:t>Data Loss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36592" y="2807292"/>
            <a:ext cx="293522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2440"/>
                </a:solidFill>
              </a:rPr>
              <a:t>Many documents about project data is places across many systems, chatbots and books. There is no one end to end system to place them all.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93024" y="2084832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6"/>
          <p:cNvSpPr/>
          <p:nvPr/>
        </p:nvSpPr>
        <p:spPr>
          <a:xfrm>
            <a:off x="8421624" y="2313432"/>
            <a:ext cx="402336" cy="402336"/>
          </a:xfrm>
          <a:prstGeom prst="ellipse">
            <a:avLst/>
          </a:prstGeom>
          <a:solidFill>
            <a:srgbClr val="E94B9A"/>
          </a:solidFill>
          <a:ln w="12700">
            <a:solidFill>
              <a:srgbClr val="E94B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8421624" y="247720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961120" y="241410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DA8"/>
                </a:solidFill>
              </a:rPr>
              <a:t>Hollow Management tools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85632" y="2807292"/>
            <a:ext cx="266090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C2440"/>
                </a:solidFill>
              </a:rPr>
              <a:t>Current systems only store data, not analyzing and understanding it.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A2DA8"/>
                </a:solidFill>
              </a:rPr>
              <a:t>Primary users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47731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FFF0F8"/>
          </a:solidFill>
          <a:ln w="12700">
            <a:solidFill>
              <a:srgbClr val="E94B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2"/>
          <p:cNvSpPr/>
          <p:nvPr/>
        </p:nvSpPr>
        <p:spPr>
          <a:xfrm>
            <a:off x="841248" y="4855464"/>
            <a:ext cx="2020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4B9A"/>
                </a:solidFill>
              </a:rPr>
              <a:t>Project managers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46120" y="477316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EE6FF"/>
          </a:solidFill>
          <a:ln w="12700">
            <a:solidFill>
              <a:srgbClr val="5A2D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4"/>
          <p:cNvSpPr/>
          <p:nvPr/>
        </p:nvSpPr>
        <p:spPr>
          <a:xfrm>
            <a:off x="3355848" y="4855464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2DA8"/>
                </a:solidFill>
              </a:rPr>
              <a:t>Developers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166360" y="47731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0F8"/>
          </a:solidFill>
          <a:ln w="12700">
            <a:solidFill>
              <a:srgbClr val="E94B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6"/>
          <p:cNvSpPr/>
          <p:nvPr/>
        </p:nvSpPr>
        <p:spPr>
          <a:xfrm>
            <a:off x="5276088" y="485546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4B9A"/>
                </a:solidFill>
              </a:rPr>
              <a:t>Startup teams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360920" y="4773168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EEE6FF"/>
          </a:solidFill>
          <a:ln w="12700">
            <a:solidFill>
              <a:srgbClr val="5A2D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8"/>
          <p:cNvSpPr/>
          <p:nvPr/>
        </p:nvSpPr>
        <p:spPr>
          <a:xfrm>
            <a:off x="7470648" y="4855464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2DA8"/>
                </a:solidFill>
              </a:rPr>
              <a:t>Product owners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601200" y="47731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0F8"/>
          </a:solidFill>
          <a:ln w="12700">
            <a:solidFill>
              <a:srgbClr val="E94B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0"/>
          <p:cNvSpPr/>
          <p:nvPr/>
        </p:nvSpPr>
        <p:spPr>
          <a:xfrm>
            <a:off x="9710928" y="485546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4B9A"/>
                </a:solidFill>
              </a:rPr>
              <a:t>Technical leads</a:t>
            </a:r>
            <a:endParaRPr lang="en-US" sz="950" dirty="0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87C34432-FB54-F127-49C3-5FC202C5B796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CF268963-31A9-2B0C-FAB7-32FFD31C86D1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9DC2AC9F-E4E0-9E7B-9929-AE27DAE8E458}"/>
              </a:ext>
            </a:extLst>
          </p:cNvPr>
          <p:cNvSpPr txBox="1"/>
          <p:nvPr/>
        </p:nvSpPr>
        <p:spPr>
          <a:xfrm>
            <a:off x="11155680" y="635508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rgbClr val="8B749B"/>
                </a:solidFill>
                <a:latin typeface="Aptos"/>
              </a:rPr>
              <a:t>1</a:t>
            </a:r>
          </a:p>
          <a:p>
            <a:pPr algn="r"/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89DAC958-0055-A6BD-0BB5-8075AEEE8BEB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SOLUTION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PAMI adds an intelligent project-management layer.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94944" y="14447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440"/>
                </a:solidFill>
              </a:rPr>
              <a:t>The platform combines a structured project model, natural-language interaction and service integrations to turn project data into guidance.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148840"/>
            <a:ext cx="2423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960120" y="2377440"/>
            <a:ext cx="402336" cy="402336"/>
          </a:xfrm>
          <a:prstGeom prst="ellipse">
            <a:avLst/>
          </a:prstGeom>
          <a:solidFill>
            <a:srgbClr val="E94B9A"/>
          </a:solidFill>
          <a:ln w="12700">
            <a:solidFill>
              <a:srgbClr val="E94B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960120" y="253297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99616" y="24781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2DA8"/>
                </a:solidFill>
              </a:rPr>
              <a:t>Capture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2871300"/>
            <a:ext cx="183794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C2440"/>
                </a:solidFill>
              </a:rPr>
              <a:t>Projects, workers, goals, tasks, dependencies and team conversations.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3547872" y="2148840"/>
            <a:ext cx="2423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1"/>
          <p:cNvSpPr/>
          <p:nvPr/>
        </p:nvSpPr>
        <p:spPr>
          <a:xfrm>
            <a:off x="3776472" y="2377440"/>
            <a:ext cx="402336" cy="402336"/>
          </a:xfrm>
          <a:prstGeom prst="ellipse">
            <a:avLst/>
          </a:prstGeom>
          <a:solidFill>
            <a:srgbClr val="5A2DA8"/>
          </a:solidFill>
          <a:ln w="12700">
            <a:solidFill>
              <a:srgbClr val="5A2D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3776472" y="253297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15968" y="24781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2DA8"/>
                </a:solidFill>
              </a:rPr>
              <a:t>Model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840480" y="2871300"/>
            <a:ext cx="183794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C2440"/>
                </a:solidFill>
              </a:rPr>
              <a:t>Organize knowledge as structured project context, not a flat ticket list.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364224" y="2148840"/>
            <a:ext cx="2423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6"/>
          <p:cNvSpPr/>
          <p:nvPr/>
        </p:nvSpPr>
        <p:spPr>
          <a:xfrm>
            <a:off x="6592824" y="2377440"/>
            <a:ext cx="402336" cy="402336"/>
          </a:xfrm>
          <a:prstGeom prst="ellipse">
            <a:avLst/>
          </a:prstGeom>
          <a:solidFill>
            <a:srgbClr val="E94B9A"/>
          </a:solidFill>
          <a:ln w="12700">
            <a:solidFill>
              <a:srgbClr val="E94B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6592824" y="253297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32320" y="24781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2DA8"/>
                </a:solidFill>
              </a:rPr>
              <a:t>Reason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56832" y="2871300"/>
            <a:ext cx="183794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C2440"/>
                </a:solidFill>
              </a:rPr>
              <a:t>Use the AI service to summarize, suggest tasks and identify risk signals.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9180576" y="2148840"/>
            <a:ext cx="2423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4" name="Shape 21"/>
          <p:cNvSpPr/>
          <p:nvPr/>
        </p:nvSpPr>
        <p:spPr>
          <a:xfrm>
            <a:off x="9409176" y="2377440"/>
            <a:ext cx="402336" cy="402336"/>
          </a:xfrm>
          <a:prstGeom prst="ellipse">
            <a:avLst/>
          </a:prstGeom>
          <a:solidFill>
            <a:srgbClr val="5A2DA8"/>
          </a:solidFill>
          <a:ln w="12700">
            <a:solidFill>
              <a:srgbClr val="5A2D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2"/>
          <p:cNvSpPr/>
          <p:nvPr/>
        </p:nvSpPr>
        <p:spPr>
          <a:xfrm>
            <a:off x="9409176" y="253297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48672" y="24781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2DA8"/>
                </a:solidFill>
              </a:rPr>
              <a:t>Act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473184" y="2871300"/>
            <a:ext cx="183794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C2440"/>
                </a:solidFill>
              </a:rPr>
              <a:t>Send updates to Slack and sync execution flows with Jira.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1143000" y="4983480"/>
            <a:ext cx="987552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E8D2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6"/>
          <p:cNvSpPr/>
          <p:nvPr/>
        </p:nvSpPr>
        <p:spPr>
          <a:xfrm>
            <a:off x="1417320" y="5175504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2DA8"/>
                </a:solidFill>
              </a:rPr>
              <a:t>Core idea: PAMI does not only track tasks. It keeps enough context to explain what matters and recommend concrete actions.</a:t>
            </a:r>
            <a:endParaRPr lang="en-US" sz="1350" dirty="0"/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B1F75872-DE64-DBD2-EE7D-89EBE321BC19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16EA48D6-09C3-EE46-CDF1-729008FF81F8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C44902CD-5DA3-007F-D054-17EFF4AB8254}"/>
              </a:ext>
            </a:extLst>
          </p:cNvPr>
          <p:cNvSpPr txBox="1"/>
          <p:nvPr/>
        </p:nvSpPr>
        <p:spPr>
          <a:xfrm>
            <a:off x="11155680" y="6355080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2</a:t>
            </a:r>
          </a:p>
          <a:p>
            <a:pPr algn="r"/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31C6C36D-C463-A854-D05B-2A27D4E11BD3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PRODUCT DEMO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Onboarding and project setup are assistant-led.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94944" y="14447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440"/>
                </a:solidFill>
              </a:rPr>
              <a:t>The UI uses a light PAMI visual language and guides users from company registration to defining goals, state and workers.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1993392"/>
            <a:ext cx="52578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2F0"/>
            </a:solidFill>
            <a:prstDash val="solid"/>
          </a:ln>
          <a:effectLst>
            <a:outerShdw blurRad="12700" dist="50800" dir="2700000" algn="bl" rotWithShape="0">
              <a:srgbClr val="D6C5DD">
                <a:alpha val="2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1" descr="/mnt/data/pami_assets/AWS_Project_Product_Design_Document_Submission_(1)/image6.png"/>
          <p:cNvPicPr>
            <a:picLocks noChangeAspect="1"/>
          </p:cNvPicPr>
          <p:nvPr/>
        </p:nvPicPr>
        <p:blipFill>
          <a:blip r:embed="rId4"/>
          <a:srcRect t="10526" b="10526"/>
          <a:stretch/>
        </p:blipFill>
        <p:spPr>
          <a:xfrm>
            <a:off x="768096" y="2103120"/>
            <a:ext cx="5038344" cy="2651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488289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2DA8"/>
                </a:solidFill>
              </a:rPr>
              <a:t>Registration flow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63640" y="1993392"/>
            <a:ext cx="52578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D2F0"/>
            </a:solidFill>
            <a:prstDash val="solid"/>
          </a:ln>
          <a:effectLst>
            <a:outerShdw blurRad="12700" dist="50800" dir="2700000" algn="bl" rotWithShape="0">
              <a:srgbClr val="D6C5DD">
                <a:alpha val="2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" name="Image 2" descr="/mnt/data/pami_assets/AWS_Project_Product_Design_Document_Submission_(1)/image5.png"/>
          <p:cNvPicPr>
            <a:picLocks noChangeAspect="1"/>
          </p:cNvPicPr>
          <p:nvPr/>
        </p:nvPicPr>
        <p:blipFill>
          <a:blip r:embed="rId5"/>
          <a:srcRect t="10526" b="10526"/>
          <a:stretch/>
        </p:blipFill>
        <p:spPr>
          <a:xfrm>
            <a:off x="6373368" y="2103120"/>
            <a:ext cx="5038344" cy="2651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488289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2DA8"/>
                </a:solidFill>
              </a:rPr>
              <a:t>Create project flow</a:t>
            </a:r>
            <a:endParaRPr lang="en-US" sz="1000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77BAE82-5EE4-8426-78DF-F86ED4FF9AF3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8381189-BFA5-3165-80D8-F71185F62A46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70F852BE-73D6-1BC1-218A-6E3DC39F5861}"/>
              </a:ext>
            </a:extLst>
          </p:cNvPr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3</a:t>
            </a:r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47715A5-AC71-F3E0-AD1C-094844AD8B4D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PRODUCT DEMO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Dashboard, project visibility and PAMI conversation.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94944" y="142646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440"/>
                </a:solidFill>
              </a:rPr>
              <a:t>The main experience combines project structure, progress indicators and a conversational copilot grounded in project context.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1938528"/>
            <a:ext cx="5257800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E8D2F0"/>
            </a:solidFill>
            <a:prstDash val="solid"/>
          </a:ln>
          <a:effectLst>
            <a:outerShdw blurRad="12700" dist="50800" dir="2700000" algn="bl" rotWithShape="0">
              <a:srgbClr val="D6C5DD">
                <a:alpha val="2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1" descr="/mnt/data/pami_assets/AWS_Project_Product_Design_Document_Submission_(1)/image4.png"/>
          <p:cNvPicPr>
            <a:picLocks noChangeAspect="1"/>
          </p:cNvPicPr>
          <p:nvPr/>
        </p:nvPicPr>
        <p:blipFill>
          <a:blip r:embed="rId4"/>
          <a:srcRect t="8874" b="8874"/>
          <a:stretch/>
        </p:blipFill>
        <p:spPr>
          <a:xfrm>
            <a:off x="768096" y="2048256"/>
            <a:ext cx="5038344" cy="2761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493776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2DA8"/>
                </a:solidFill>
              </a:rPr>
              <a:t>Project dashboard and visibility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63640" y="1938528"/>
            <a:ext cx="5257800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12700">
            <a:solidFill>
              <a:srgbClr val="E8D2F0"/>
            </a:solidFill>
            <a:prstDash val="solid"/>
          </a:ln>
          <a:effectLst>
            <a:outerShdw blurRad="12700" dist="50800" dir="2700000" algn="bl" rotWithShape="0">
              <a:srgbClr val="D6C5DD">
                <a:alpha val="2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" name="Image 2" descr="/mnt/data/pami_assets/AWS_Project_Product_Design_Document_Submission_(1)/image1.png"/>
          <p:cNvPicPr>
            <a:picLocks noChangeAspect="1"/>
          </p:cNvPicPr>
          <p:nvPr/>
        </p:nvPicPr>
        <p:blipFill>
          <a:blip r:embed="rId5"/>
          <a:srcRect t="8874" b="8874"/>
          <a:stretch/>
        </p:blipFill>
        <p:spPr>
          <a:xfrm>
            <a:off x="6373368" y="2048256"/>
            <a:ext cx="5038344" cy="2761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493776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2DA8"/>
                </a:solidFill>
              </a:rPr>
              <a:t>Natural-language project assistant</a:t>
            </a:r>
            <a:endParaRPr lang="en-US" sz="1000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1644D6C4-CFDE-CD60-2989-5008DB1829B2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CEF7EE82-403B-2091-D587-0FA4A148E1CB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8907FF04-3C61-0A10-4141-31AF7D9EC7EA}"/>
              </a:ext>
            </a:extLst>
          </p:cNvPr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4</a:t>
            </a:r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DA80BCF7-96E4-1A83-A7EB-63207D64422A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EXECUTION LAYER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PAMI connects decisions to the tools teams already use.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13232" y="14264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440"/>
                </a:solidFill>
              </a:rPr>
              <a:t>Integrations are used for real project execution: notifications, team updates and task tracking.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3232" y="1956816"/>
            <a:ext cx="498348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8D2F0"/>
            </a:solidFill>
            <a:prstDash val="solid"/>
          </a:ln>
          <a:effectLst>
            <a:outerShdw blurRad="12700" dist="50800" dir="2700000" algn="bl" rotWithShape="0">
              <a:srgbClr val="D6C5DD">
                <a:alpha val="24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1" descr="/mnt/data/pami_assets/AWS_Project_Product_Design_Document_Submission_(1)/image2.png"/>
          <p:cNvPicPr>
            <a:picLocks noChangeAspect="1"/>
          </p:cNvPicPr>
          <p:nvPr/>
        </p:nvPicPr>
        <p:blipFill>
          <a:blip r:embed="rId4"/>
          <a:srcRect t="7534" b="7534"/>
          <a:stretch/>
        </p:blipFill>
        <p:spPr>
          <a:xfrm>
            <a:off x="822960" y="2066544"/>
            <a:ext cx="4764024" cy="2697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489204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2DA8"/>
                </a:solidFill>
              </a:rPr>
              <a:t>Jira task synchronization flow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44768" y="1956816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Text 8"/>
          <p:cNvSpPr/>
          <p:nvPr/>
        </p:nvSpPr>
        <p:spPr>
          <a:xfrm>
            <a:off x="6437376" y="2203704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DA8"/>
                </a:solidFill>
              </a:rPr>
              <a:t>Slack service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37376" y="2596896"/>
            <a:ext cx="1929384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Connection check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List channels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Create channel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Duplicate-channel handling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Send team updates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979408" y="1956816"/>
            <a:ext cx="2514600" cy="324612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Text 11"/>
          <p:cNvSpPr/>
          <p:nvPr/>
        </p:nvSpPr>
        <p:spPr>
          <a:xfrm>
            <a:off x="9272016" y="2203704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DA8"/>
                </a:solidFill>
              </a:rPr>
              <a:t>Jira service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272016" y="2596896"/>
            <a:ext cx="1929384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Export tasks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Track developer workflow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Keep execution visible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Support verbose task tracking</a:t>
            </a:r>
            <a:endParaRPr lang="en-US" sz="1150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D8F27219-46F2-AE5D-641C-E66853B14077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2CE6FAE-018D-08DF-5CD9-A6FD731A7BDE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A20B6CE7-6659-8712-968F-623C1C52761D}"/>
              </a:ext>
            </a:extLst>
          </p:cNvPr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6</a:t>
            </a:r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F04C90BD-911E-D960-951A-4253A74D889E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INNOVATION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context model aligned with the product UI.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13232" y="142646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440"/>
                </a:solidFill>
              </a:rPr>
              <a:t>PAMI organizes project knowledge for AI routing while the actual interface stays focused on dashboard, chat and actionable project views.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51960" y="2642615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94B9A"/>
            </a:solidFill>
            <a:prstDash val="solid"/>
          </a:ln>
          <a:effectLst>
            <a:outerShdw blurRad="12700" dist="50800" dir="2700000" algn="bl" rotWithShape="0">
              <a:srgbClr val="D6C5DD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4480560" y="299008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A2DA8"/>
                </a:solidFill>
              </a:rPr>
              <a:t>Context-aware project model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617720" y="3410711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C2440"/>
                </a:solidFill>
              </a:rPr>
              <a:t>PAMI routes questions to the most relevant project context instead of scanning unrelated raw text.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3154680" y="2286000"/>
            <a:ext cx="1097280" cy="411480"/>
          </a:xfrm>
          <a:prstGeom prst="line">
            <a:avLst/>
          </a:prstGeom>
          <a:noFill/>
          <a:ln w="16510">
            <a:solidFill>
              <a:srgbClr val="E8D2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2" name="Shape 9"/>
          <p:cNvSpPr/>
          <p:nvPr/>
        </p:nvSpPr>
        <p:spPr>
          <a:xfrm>
            <a:off x="3154680" y="3657600"/>
            <a:ext cx="1097280" cy="0"/>
          </a:xfrm>
          <a:prstGeom prst="line">
            <a:avLst/>
          </a:prstGeom>
          <a:noFill/>
          <a:ln w="16510">
            <a:solidFill>
              <a:srgbClr val="E8D2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0"/>
          <p:cNvSpPr/>
          <p:nvPr/>
        </p:nvSpPr>
        <p:spPr>
          <a:xfrm flipV="1">
            <a:off x="3154680" y="4434840"/>
            <a:ext cx="1097280" cy="594360"/>
          </a:xfrm>
          <a:prstGeom prst="line">
            <a:avLst/>
          </a:prstGeom>
          <a:noFill/>
          <a:ln w="16510">
            <a:solidFill>
              <a:srgbClr val="E8D2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2"/>
          <p:cNvSpPr/>
          <p:nvPr/>
        </p:nvSpPr>
        <p:spPr>
          <a:xfrm>
            <a:off x="9052560" y="3657600"/>
            <a:ext cx="0" cy="0"/>
          </a:xfrm>
          <a:prstGeom prst="line">
            <a:avLst/>
          </a:prstGeom>
          <a:noFill/>
          <a:ln w="16510">
            <a:solidFill>
              <a:srgbClr val="E8D2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3"/>
          <p:cNvSpPr/>
          <p:nvPr/>
        </p:nvSpPr>
        <p:spPr>
          <a:xfrm>
            <a:off x="9052560" y="5029200"/>
            <a:ext cx="0" cy="0"/>
          </a:xfrm>
          <a:prstGeom prst="line">
            <a:avLst/>
          </a:prstGeom>
          <a:noFill/>
          <a:ln w="16510">
            <a:solidFill>
              <a:srgbClr val="E8D2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4"/>
          <p:cNvSpPr/>
          <p:nvPr/>
        </p:nvSpPr>
        <p:spPr>
          <a:xfrm>
            <a:off x="822960" y="196596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FADCEC"/>
          </a:solidFill>
          <a:ln w="12700">
            <a:solidFill>
              <a:srgbClr val="E8D2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987552" y="216712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2DA8"/>
                </a:solidFill>
              </a:rPr>
              <a:t>Goals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333756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EEE6FF"/>
          </a:solidFill>
          <a:ln w="12700">
            <a:solidFill>
              <a:srgbClr val="E8D2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987552" y="353872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2DA8"/>
                </a:solidFill>
              </a:rPr>
              <a:t>Tasks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0916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D9E9FF"/>
          </a:solidFill>
          <a:ln w="12700">
            <a:solidFill>
              <a:srgbClr val="E8D2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19"/>
          <p:cNvSpPr/>
          <p:nvPr/>
        </p:nvSpPr>
        <p:spPr>
          <a:xfrm>
            <a:off x="987552" y="491032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2DA8"/>
                </a:solidFill>
              </a:rPr>
              <a:t>Dependencies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052560" y="196596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DFF8EC"/>
          </a:solidFill>
          <a:ln w="12700">
            <a:solidFill>
              <a:srgbClr val="E8D2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Text 21"/>
          <p:cNvSpPr/>
          <p:nvPr/>
        </p:nvSpPr>
        <p:spPr>
          <a:xfrm>
            <a:off x="9217152" y="216712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2DA8"/>
                </a:solidFill>
              </a:rPr>
              <a:t>Workers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052560" y="333756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FFF0F8"/>
          </a:solidFill>
          <a:ln w="12700">
            <a:solidFill>
              <a:srgbClr val="E8D2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3"/>
          <p:cNvSpPr/>
          <p:nvPr/>
        </p:nvSpPr>
        <p:spPr>
          <a:xfrm>
            <a:off x="9217152" y="353872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2DA8"/>
                </a:solidFill>
              </a:rPr>
              <a:t>Conversations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052560" y="4709160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FFE6D3"/>
          </a:solidFill>
          <a:ln w="12700">
            <a:solidFill>
              <a:srgbClr val="E8D2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5"/>
          <p:cNvSpPr/>
          <p:nvPr/>
        </p:nvSpPr>
        <p:spPr>
          <a:xfrm>
            <a:off x="9217152" y="491032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2DA8"/>
                </a:solidFill>
              </a:rPr>
              <a:t>Tool events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920240" y="57150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4B9A"/>
                </a:solidFill>
              </a:rPr>
              <a:t>Result: better context routing for summaries, task suggestions and decision support.</a:t>
            </a:r>
            <a:endParaRPr lang="en-US" sz="13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AAA702E-D62A-FA3E-43BF-E0AAB0BE91A6}"/>
              </a:ext>
            </a:extLst>
          </p:cNvPr>
          <p:cNvSpPr/>
          <p:nvPr/>
        </p:nvSpPr>
        <p:spPr>
          <a:xfrm flipH="1">
            <a:off x="7909560" y="2322575"/>
            <a:ext cx="1142999" cy="411473"/>
          </a:xfrm>
          <a:prstGeom prst="line">
            <a:avLst/>
          </a:prstGeom>
          <a:noFill/>
          <a:ln w="16510">
            <a:solidFill>
              <a:srgbClr val="E8D2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EFDEC78-9D09-08CB-E5BA-97200CB3F62C}"/>
              </a:ext>
            </a:extLst>
          </p:cNvPr>
          <p:cNvSpPr/>
          <p:nvPr/>
        </p:nvSpPr>
        <p:spPr>
          <a:xfrm flipH="1" flipV="1">
            <a:off x="7850678" y="4453128"/>
            <a:ext cx="1211025" cy="584310"/>
          </a:xfrm>
          <a:prstGeom prst="line">
            <a:avLst/>
          </a:prstGeom>
          <a:noFill/>
          <a:ln w="16510">
            <a:solidFill>
              <a:srgbClr val="E8D2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1F5574BB-C7AD-8CBD-AF55-00DFA7F5EE8E}"/>
              </a:ext>
            </a:extLst>
          </p:cNvPr>
          <p:cNvSpPr/>
          <p:nvPr/>
        </p:nvSpPr>
        <p:spPr>
          <a:xfrm flipH="1" flipV="1">
            <a:off x="7909560" y="3643884"/>
            <a:ext cx="1142999" cy="0"/>
          </a:xfrm>
          <a:prstGeom prst="line">
            <a:avLst/>
          </a:prstGeom>
          <a:noFill/>
          <a:ln w="16510">
            <a:solidFill>
              <a:srgbClr val="E8D2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2068271-315D-B999-714C-4C12804B28CA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60D34F1C-F3EF-49F4-E066-63A352B972E1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9C144742-08C4-8285-F913-5C246D42C918}"/>
              </a:ext>
            </a:extLst>
          </p:cNvPr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5</a:t>
            </a:r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E93C1206-4381-1272-0257-BF570CD3DC4A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932688" cy="3830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7</a:t>
            </a:r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77477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4A207D"/>
                </a:solidFill>
                <a:latin typeface="Aptos Display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22827"/>
            <a:ext cx="6492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EF50A9"/>
                </a:solidFill>
              </a:rPr>
              <a:t>High-Level AWS &amp; Microservices Architecture</a:t>
            </a:r>
            <a:endParaRPr sz="1600" b="1" dirty="0">
              <a:solidFill>
                <a:srgbClr val="EF50A9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542867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 b="0" dirty="0">
                <a:solidFill>
                  <a:srgbClr val="484159"/>
                </a:solidFill>
                <a:latin typeface="Aptos"/>
              </a:rPr>
              <a:t>The system is built as a set of microservices behind an API layer, with external Slack/Jira integrations and an AI generation path connected to GPT.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65243"/>
            <a:ext cx="4800600" cy="3474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84699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A207D"/>
                </a:solidFill>
                <a:latin typeface="Aptos"/>
              </a:rPr>
              <a:t>Architecture reading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77891"/>
            <a:ext cx="429768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80" b="1">
                <a:solidFill>
                  <a:srgbClr val="EF50A9"/>
                </a:solidFill>
                <a:latin typeface="Aptos"/>
              </a:rPr>
              <a:t>Entry</a:t>
            </a:r>
            <a:r>
              <a:rPr sz="1080" b="0">
                <a:solidFill>
                  <a:srgbClr val="464054"/>
                </a:solidFill>
                <a:latin typeface="Aptos"/>
              </a:rPr>
              <a:t> — Data Lake CLI reaches the API Gateway after authentication.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EF50A9"/>
                </a:solidFill>
                <a:latin typeface="Aptos"/>
              </a:rPr>
              <a:t>Services</a:t>
            </a:r>
            <a:r>
              <a:rPr sz="1080" b="0">
                <a:solidFill>
                  <a:srgbClr val="464054"/>
                </a:solidFill>
                <a:latin typeface="Aptos"/>
              </a:rPr>
              <a:t> — Slack, Jira, Projects and Organizations are separated into dedicated services.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EF50A9"/>
                </a:solidFill>
                <a:latin typeface="Aptos"/>
              </a:rPr>
              <a:t>AI path</a:t>
            </a:r>
            <a:r>
              <a:rPr sz="1080" b="0">
                <a:solidFill>
                  <a:srgbClr val="464054"/>
                </a:solidFill>
                <a:latin typeface="Aptos"/>
              </a:rPr>
              <a:t> — AI Gen Service connects project context to the GPT model and the Index Tree Processor.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EF50A9"/>
                </a:solidFill>
                <a:latin typeface="Aptos"/>
              </a:rPr>
              <a:t>Data</a:t>
            </a:r>
            <a:r>
              <a:rPr sz="1080" b="0">
                <a:solidFill>
                  <a:srgbClr val="464054"/>
                </a:solidFill>
                <a:latin typeface="Aptos"/>
              </a:rPr>
              <a:t> — MongoDB stores structured app data; S3 stores heavy files and artifacts.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EF50A9"/>
                </a:solidFill>
                <a:latin typeface="Aptos"/>
              </a:rPr>
              <a:t>Execution</a:t>
            </a:r>
            <a:r>
              <a:rPr sz="1080" b="0">
                <a:solidFill>
                  <a:srgbClr val="464054"/>
                </a:solidFill>
                <a:latin typeface="Aptos"/>
              </a:rPr>
              <a:t> — Slack and Jira APIs turn project decisions into team notifications and task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9552" y="1261872"/>
            <a:ext cx="6144768" cy="5074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ED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3" name="Picture 12" descr="pami_architecture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426464"/>
            <a:ext cx="5577840" cy="45079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86616" y="5971032"/>
            <a:ext cx="4876801" cy="320040"/>
          </a:xfrm>
          <a:prstGeom prst="roundRect">
            <a:avLst/>
          </a:prstGeom>
          <a:solidFill>
            <a:srgbClr val="FFF1FA"/>
          </a:solidFill>
          <a:ln w="6350">
            <a:solidFill>
              <a:srgbClr val="F7C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25980" y="6035040"/>
            <a:ext cx="5212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4A207D"/>
                </a:solidFill>
                <a:latin typeface="Aptos"/>
              </a:rPr>
              <a:t>High-level topology: API Gateway → microservices → storage, AI and external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 and deployment path.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13232" y="14081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C2440"/>
                </a:solidFill>
              </a:rPr>
              <a:t>PAMI is deployed on AWS as a microservices-based system, using GitHub Actions, Docker, ECR, and ECS/</a:t>
            </a:r>
            <a:r>
              <a:rPr lang="en-US" sz="1400" dirty="0" err="1">
                <a:solidFill>
                  <a:srgbClr val="2C2440"/>
                </a:solidFill>
              </a:rPr>
              <a:t>Fargate</a:t>
            </a:r>
            <a:r>
              <a:rPr lang="en-US" sz="1400" dirty="0">
                <a:solidFill>
                  <a:srgbClr val="2C2440"/>
                </a:solidFill>
              </a:rPr>
              <a:t> for automated deployment.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4944" y="2029968"/>
            <a:ext cx="33375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987552" y="227685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2DA8"/>
                </a:solidFill>
              </a:rPr>
              <a:t>Frontend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87552" y="2670048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React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Axios API clients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Light PAMI UI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4462272" y="2029968"/>
            <a:ext cx="33375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4754880" y="227685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2DA8"/>
                </a:solidFill>
              </a:rPr>
              <a:t>Backend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754880" y="2670048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Python / FastAPI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Pydantic validation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Service + repository layers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8229600" y="2029968"/>
            <a:ext cx="33375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8522208" y="227685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2DA8"/>
                </a:solidFill>
              </a:rPr>
              <a:t>Data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522208" y="2670048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MongoDB for app state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S3 for heavy files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Context data pointers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694944" y="3721608"/>
            <a:ext cx="33375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987552" y="396849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2DA8"/>
                </a:solidFill>
              </a:rPr>
              <a:t>AI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87552" y="4361688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Conversation service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Summaries and suggestions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LLM integration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4462272" y="3721608"/>
            <a:ext cx="33375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4754880" y="396849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2DA8"/>
                </a:solidFill>
              </a:rPr>
              <a:t>Deployment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754880" y="4361688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GitHub Actions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Docker image to ECR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ECS/Fargate task definition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8229600" y="3721608"/>
            <a:ext cx="33375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4" name="Text 21"/>
          <p:cNvSpPr/>
          <p:nvPr/>
        </p:nvSpPr>
        <p:spPr>
          <a:xfrm>
            <a:off x="8522208" y="396849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A2DA8"/>
                </a:solidFill>
              </a:rPr>
              <a:t>Secrets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522208" y="4361688"/>
            <a:ext cx="27523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GitHub Secrets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MongoDB URL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2C2440"/>
                </a:solidFill>
              </a:rPr>
              <a:t>Slack tokens and AWS credentials</a:t>
            </a:r>
            <a:endParaRPr lang="en-US" sz="1030" dirty="0"/>
          </a:p>
        </p:txBody>
      </p:sp>
      <p:sp>
        <p:nvSpPr>
          <p:cNvPr id="26" name="Text 23"/>
          <p:cNvSpPr/>
          <p:nvPr/>
        </p:nvSpPr>
        <p:spPr>
          <a:xfrm>
            <a:off x="960120" y="56875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E94B9A"/>
                </a:solidFill>
              </a:rPr>
              <a:t>Environment-based configuration keeps the services portable between local development and AWS deployment.</a:t>
            </a:r>
            <a:endParaRPr lang="en-US" sz="1280" dirty="0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EF6E05A-7BC5-7972-371F-AF7A0DD4CA77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468B3917-2756-953F-D04D-0C9E1D2FC5F9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4">
            <a:extLst>
              <a:ext uri="{FF2B5EF4-FFF2-40B4-BE49-F238E27FC236}">
                <a16:creationId xmlns:a16="http://schemas.microsoft.com/office/drawing/2014/main" id="{784EA3AD-3F8D-A2E1-5192-09EA3DAB2A6B}"/>
              </a:ext>
            </a:extLst>
          </p:cNvPr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8</a:t>
            </a:r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D3F1F8D2-AC07-3356-8185-521CE78BA9F3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POSITIONING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PAMI is different from traditional task tools.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13232" y="14081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440"/>
                </a:solidFill>
              </a:rPr>
              <a:t>PAMI is designed as an intelligent project layer, not only another board or ticket database.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" y="1993392"/>
            <a:ext cx="10652760" cy="530352"/>
          </a:xfrm>
          <a:prstGeom prst="roundRect">
            <a:avLst>
              <a:gd name="adj" fmla="val 13793"/>
            </a:avLst>
          </a:prstGeom>
          <a:solidFill>
            <a:srgbClr val="5A2DA8"/>
          </a:solidFill>
          <a:ln w="12700">
            <a:solidFill>
              <a:srgbClr val="5A2D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886968" y="215798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Capability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27248" y="2157984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Traditional tools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13448" y="2157984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PAMI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" y="2560320"/>
            <a:ext cx="10652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2F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0"/>
          <p:cNvSpPr/>
          <p:nvPr/>
        </p:nvSpPr>
        <p:spPr>
          <a:xfrm>
            <a:off x="886968" y="2706624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C2440"/>
                </a:solidFill>
              </a:rPr>
              <a:t>Data model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27248" y="2706624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C2440"/>
                </a:solidFill>
              </a:rPr>
              <a:t>Flat lists / Kanban boards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013448" y="2706624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A2DA8"/>
                </a:solidFill>
              </a:rPr>
              <a:t>Structured project context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9808" y="3035808"/>
            <a:ext cx="10652760" cy="475488"/>
          </a:xfrm>
          <a:prstGeom prst="rect">
            <a:avLst/>
          </a:prstGeom>
          <a:solidFill>
            <a:srgbClr val="FFF3FA"/>
          </a:solidFill>
          <a:ln w="12700">
            <a:solidFill>
              <a:srgbClr val="E8D2F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4"/>
          <p:cNvSpPr/>
          <p:nvPr/>
        </p:nvSpPr>
        <p:spPr>
          <a:xfrm>
            <a:off x="886968" y="318211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C2440"/>
                </a:solidFill>
              </a:rPr>
              <a:t>Intelligence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127248" y="3182112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C2440"/>
                </a:solidFill>
              </a:rPr>
              <a:t>Rule-based automations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013448" y="3182112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A2DA8"/>
                </a:solidFill>
              </a:rPr>
              <a:t>AI-assisted reasoning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9808" y="3511296"/>
            <a:ext cx="10652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2F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886968" y="365760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C2440"/>
                </a:solidFill>
              </a:rPr>
              <a:t>Interaction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127248" y="3657600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C2440"/>
                </a:solidFill>
              </a:rPr>
              <a:t>Forms, dashboards, filters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013448" y="365760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A2DA8"/>
                </a:solidFill>
              </a:rPr>
              <a:t>Natural-language dialogue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9808" y="3986784"/>
            <a:ext cx="10652760" cy="475488"/>
          </a:xfrm>
          <a:prstGeom prst="rect">
            <a:avLst/>
          </a:prstGeom>
          <a:solidFill>
            <a:srgbClr val="FFF3FA"/>
          </a:solidFill>
          <a:ln w="12700">
            <a:solidFill>
              <a:srgbClr val="E8D2F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2"/>
          <p:cNvSpPr/>
          <p:nvPr/>
        </p:nvSpPr>
        <p:spPr>
          <a:xfrm>
            <a:off x="886968" y="4133088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C2440"/>
                </a:solidFill>
              </a:rPr>
              <a:t>Project understanding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127248" y="4133088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C2440"/>
                </a:solidFill>
              </a:rPr>
              <a:t>Metadata and status tracking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013448" y="4133088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A2DA8"/>
                </a:solidFill>
              </a:rPr>
              <a:t>Goals, dependencies and risk signals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49808" y="4462272"/>
            <a:ext cx="10652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2F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6"/>
          <p:cNvSpPr/>
          <p:nvPr/>
        </p:nvSpPr>
        <p:spPr>
          <a:xfrm>
            <a:off x="886968" y="460857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C2440"/>
                </a:solidFill>
              </a:rPr>
              <a:t>Execution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127248" y="4608576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C2440"/>
                </a:solidFill>
              </a:rPr>
              <a:t>Manual updates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013448" y="4608576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A2DA8"/>
                </a:solidFill>
              </a:rPr>
              <a:t>Slack/Jira integration layer</a:t>
            </a:r>
            <a:endParaRPr lang="en-US" sz="1050" dirty="0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7F9AC638-5030-478E-16CC-3CCFC3AD954F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09E3BB3F-6659-6B76-6A55-1ED6FB399DEC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9D6F751A-68E0-176E-A9FA-A33DC41566CC}"/>
              </a:ext>
            </a:extLst>
          </p:cNvPr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9</a:t>
            </a:r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425097F8-BA44-F1A3-F7A7-F406721E59A0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3" y="274320"/>
            <a:ext cx="935073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47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B9A"/>
                </a:solidFill>
              </a:rPr>
              <a:t>SUMMARY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A2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outcomes and conclusions.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13232" y="140817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440"/>
                </a:solidFill>
              </a:rPr>
              <a:t>PAMI demonstrates how AI can move project management from passive tracking to context-aware guidance.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1005840" y="2194560"/>
            <a:ext cx="402336" cy="402336"/>
          </a:xfrm>
          <a:prstGeom prst="ellipse">
            <a:avLst/>
          </a:prstGeom>
          <a:solidFill>
            <a:srgbClr val="E94B9A"/>
          </a:solidFill>
          <a:ln w="12700">
            <a:solidFill>
              <a:srgbClr val="E94B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1005840" y="226771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545336" y="2212848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DA8"/>
                </a:solidFill>
              </a:rPr>
              <a:t>Product outcome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69848" y="2606040"/>
            <a:ext cx="284378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A light PAMI interface for project setup, dashboard visibility and AI-assisted project conversation.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43984" y="19659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11"/>
          <p:cNvSpPr/>
          <p:nvPr/>
        </p:nvSpPr>
        <p:spPr>
          <a:xfrm>
            <a:off x="4672584" y="2194560"/>
            <a:ext cx="402336" cy="402336"/>
          </a:xfrm>
          <a:prstGeom prst="ellipse">
            <a:avLst/>
          </a:prstGeom>
          <a:solidFill>
            <a:srgbClr val="5A2DA8"/>
          </a:solidFill>
          <a:ln w="12700">
            <a:solidFill>
              <a:srgbClr val="5A2D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4672584" y="226771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12080" y="2212848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DA8"/>
                </a:solidFill>
              </a:rPr>
              <a:t>Technical outcome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36592" y="2606040"/>
            <a:ext cx="284378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A microservice-based system with Projects, AI, Slack and Jira services connected through clear API boundaries.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10728" y="196596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2F0">
                <a:alpha val="92000"/>
              </a:srgbClr>
            </a:solidFill>
            <a:prstDash val="solid"/>
          </a:ln>
          <a:effectLst>
            <a:outerShdw blurRad="12700" dist="50800" dir="2700000" algn="bl" rotWithShape="0">
              <a:srgbClr val="D5C2DD">
                <a:alpha val="2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Shape 16"/>
          <p:cNvSpPr/>
          <p:nvPr/>
        </p:nvSpPr>
        <p:spPr>
          <a:xfrm>
            <a:off x="8339328" y="2194560"/>
            <a:ext cx="402336" cy="402336"/>
          </a:xfrm>
          <a:prstGeom prst="ellipse">
            <a:avLst/>
          </a:prstGeom>
          <a:solidFill>
            <a:srgbClr val="E94B9A"/>
          </a:solidFill>
          <a:ln w="12700">
            <a:solidFill>
              <a:srgbClr val="E94B9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7"/>
          <p:cNvSpPr/>
          <p:nvPr/>
        </p:nvSpPr>
        <p:spPr>
          <a:xfrm>
            <a:off x="8339328" y="226771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878824" y="221284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2DA8"/>
                </a:solidFill>
              </a:rPr>
              <a:t>Learning outcome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03336" y="2606040"/>
            <a:ext cx="275234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C2440"/>
                </a:solidFill>
              </a:rPr>
              <a:t>A clearer understanding of AWS-oriented deployment, secrets handling, service separation and integration testing.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892040"/>
            <a:ext cx="10104120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E8D2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Text 21"/>
          <p:cNvSpPr/>
          <p:nvPr/>
        </p:nvSpPr>
        <p:spPr>
          <a:xfrm>
            <a:off x="1325880" y="5102352"/>
            <a:ext cx="9464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2DA8"/>
                </a:solidFill>
              </a:rPr>
              <a:t>Key conclusion: the central value of PAMI is not just automation, but organized project context that makes AI guidance useful.</a:t>
            </a:r>
            <a:endParaRPr lang="en-US" sz="1350" dirty="0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899417F2-6A8B-3FC4-78B1-B3126DCD661E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33E4A04B-89E7-4BC6-19D6-416C873F8CA7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7B23EB4B-9EE9-8858-9B78-0C80F8EA0A3F}"/>
              </a:ext>
            </a:extLst>
          </p:cNvPr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200" b="1" dirty="0">
                <a:solidFill>
                  <a:srgbClr val="8B749B"/>
                </a:solidFill>
                <a:latin typeface="Aptos"/>
              </a:rPr>
              <a:t>10</a:t>
            </a:r>
            <a:endParaRPr sz="1200" b="1" dirty="0">
              <a:solidFill>
                <a:srgbClr val="8B749B"/>
              </a:solidFill>
              <a:latin typeface="Aptos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C0A6D8D5-1692-583F-AA66-23507091FF2E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4s63cYj04WAAAAAElFTkSuQm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850" y="960120"/>
            <a:ext cx="1335819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94B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2DA8"/>
                </a:solidFill>
              </a:rPr>
              <a:t>Thank you for your time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895344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2440"/>
                </a:solidFill>
              </a:rPr>
              <a:t>github.com/OrKeren8/pami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422452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47E"/>
                </a:solidFill>
              </a:rPr>
              <a:t>Cloud Computing Workshop with AWS</a:t>
            </a:r>
            <a:endParaRPr lang="en-US" sz="115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FBAD278-A0FB-59FC-4264-8AA4EF734B77}"/>
              </a:ext>
            </a:extLst>
          </p:cNvPr>
          <p:cNvSpPr/>
          <p:nvPr/>
        </p:nvSpPr>
        <p:spPr>
          <a:xfrm>
            <a:off x="0" y="6601968"/>
            <a:ext cx="8869680" cy="109728"/>
          </a:xfrm>
          <a:prstGeom prst="rect">
            <a:avLst/>
          </a:prstGeom>
          <a:solidFill>
            <a:srgbClr val="F4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D50EFF9-4569-0223-7423-5FD1CAFC5949}"/>
              </a:ext>
            </a:extLst>
          </p:cNvPr>
          <p:cNvSpPr/>
          <p:nvPr/>
        </p:nvSpPr>
        <p:spPr>
          <a:xfrm>
            <a:off x="8869680" y="6601968"/>
            <a:ext cx="3319272" cy="109728"/>
          </a:xfrm>
          <a:prstGeom prst="rect">
            <a:avLst/>
          </a:prstGeom>
          <a:solidFill>
            <a:srgbClr val="6E5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D2B0C24A-B99B-A8CA-C2E9-53D827B5455B}"/>
              </a:ext>
            </a:extLst>
          </p:cNvPr>
          <p:cNvSpPr txBox="1"/>
          <p:nvPr/>
        </p:nvSpPr>
        <p:spPr>
          <a:xfrm>
            <a:off x="566928" y="6355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B749B"/>
                </a:solidFill>
                <a:latin typeface="Aptos"/>
              </a:rPr>
              <a:t>PAMI | AI Project Management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988</Words>
  <Application>Microsoft Office PowerPoint</Application>
  <PresentationFormat>Widescreen</PresentationFormat>
  <Paragraphs>188</Paragraphs>
  <Slides>12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Academic College of Tel Aviv-Yaffo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PAMI AI Project Management Platform</dc:title>
  <dc:subject>PAMI AI Project Management Platform</dc:subject>
  <dc:creator>PAMI Team</dc:creator>
  <cp:lastModifiedBy>Or Keren</cp:lastModifiedBy>
  <cp:revision>9</cp:revision>
  <dcterms:created xsi:type="dcterms:W3CDTF">2026-05-26T20:03:19Z</dcterms:created>
  <dcterms:modified xsi:type="dcterms:W3CDTF">2026-06-03T17:53:09Z</dcterms:modified>
</cp:coreProperties>
</file>